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NVIDIA AI CEO Strategic Intelligence Agent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50292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Progress Report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NLP Examination — June 2026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Individual Project · 1 Week Duration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3383280"/>
            <a:ext cx="1920240" cy="1188720"/>
          </a:xfrm>
          <a:prstGeom prst="roundRect">
            <a:avLst>
              <a:gd name="adj" fmla="val 7692"/>
            </a:avLst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401568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76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244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39776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Articles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Collected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651760" y="3383280"/>
            <a:ext cx="1920240" cy="1188720"/>
          </a:xfrm>
          <a:prstGeom prst="roundRect">
            <a:avLst>
              <a:gd name="adj" fmla="val 7692"/>
            </a:avLst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51760" y="3401568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76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3,395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651760" y="39776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 Chunks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846320" y="3383280"/>
            <a:ext cx="1920240" cy="1188720"/>
          </a:xfrm>
          <a:prstGeom prst="roundRect">
            <a:avLst>
              <a:gd name="adj" fmla="val 7692"/>
            </a:avLst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3401568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76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846320" y="39776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Sources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040880" y="3383280"/>
            <a:ext cx="1920240" cy="1188720"/>
          </a:xfrm>
          <a:prstGeom prst="roundRect">
            <a:avLst>
              <a:gd name="adj" fmla="val 7692"/>
            </a:avLst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40880" y="3401568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76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040880" y="39776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 date: 23 June 2026  ·  Student: Anish  ·  SRH University Heidelberg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2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594360"/>
            <a:ext cx="3657600" cy="4493623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343400" y="640080"/>
            <a:ext cx="457200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4480560" y="676656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Architecture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480560" y="886968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Retrieval-Augmented Generation grounds LLM answers in freshly collected articles — solves knowledge cutoff problem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4343400" y="1371600"/>
            <a:ext cx="457200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480560" y="1408176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 Sentiment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480560" y="1618488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FinBERT for financial text (Reuters-trained) + Twitter-RoBERTa for social (124M tweets) — domain-appropriate routing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343400" y="2103120"/>
            <a:ext cx="457200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480560" y="2139696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ChromaDB Vectors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480560" y="2350008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768-dim BAAI/bge-base-en-v1.5 embeddings stored with cosine similarity — semantic search beyond keywords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4343400" y="2834640"/>
            <a:ext cx="457200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4480560" y="2871216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LLM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4480560" y="3081528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Ollama llama3.1:8b runs entirely local — no API costs, no data privacy concerns, 8192-token context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4343400" y="3566160"/>
            <a:ext cx="457200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8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4480560" y="3602736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Relevance Filter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4480560" y="3813048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 NVIDIA-specific keywords filter out irrelevant articles before storage — improves RAG quality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4343400" y="4297680"/>
            <a:ext cx="457200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8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4480560" y="4334256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Cache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4480560" y="4544568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--force flag rebuilds from scratch; default reuses ChromaDB — fast iteration on intelligence layer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Deliverables Progress Tracker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594360"/>
            <a:ext cx="1645920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59436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377440" y="594360"/>
            <a:ext cx="1645920" cy="292608"/>
          </a:xfrm>
          <a:prstGeom prst="roundRect">
            <a:avLst>
              <a:gd name="adj" fmla="val 1875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377440" y="59436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PARTIAL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389120" y="594360"/>
            <a:ext cx="1645920" cy="292608"/>
          </a:xfrm>
          <a:prstGeom prst="roundRect">
            <a:avLst>
              <a:gd name="adj" fmla="val 18750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0" y="59436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DONE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37160" y="960120"/>
            <a:ext cx="2011680" cy="2514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2880" y="960120"/>
            <a:ext cx="19659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Deliverable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148840" y="960120"/>
            <a:ext cx="2743200" cy="2514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94560" y="960120"/>
            <a:ext cx="26974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892040" y="960120"/>
            <a:ext cx="1005840" cy="2514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0" y="960120"/>
            <a:ext cx="9601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897880" y="960120"/>
            <a:ext cx="3200400" cy="2514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0" y="960120"/>
            <a:ext cx="31546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/ Notes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37160" y="1211580"/>
            <a:ext cx="2011680" cy="2514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148840" y="1211580"/>
            <a:ext cx="2743200" cy="2514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92040" y="1211580"/>
            <a:ext cx="1005840" cy="2514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897880" y="1211580"/>
            <a:ext cx="3200400" cy="2514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2880" y="1211580"/>
            <a:ext cx="19659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D1: Working Prototype (30%)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2194560" y="1211580"/>
            <a:ext cx="26974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 live information from ≥3 sources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4983480" y="1248156"/>
            <a:ext cx="822960" cy="178308"/>
          </a:xfrm>
          <a:prstGeom prst="roundRect">
            <a:avLst>
              <a:gd name="adj" fmla="val 25641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83480" y="1248156"/>
            <a:ext cx="82296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5943600" y="1211580"/>
            <a:ext cx="31089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sources: RSS, Reddit, NewsAPI, HN, GitHub, Yahoo, NVIDIA IR, StockTwits, Wiki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137160" y="1463040"/>
            <a:ext cx="2011680" cy="2514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148840" y="1463040"/>
            <a:ext cx="2743200" cy="2514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892040" y="1463040"/>
            <a:ext cx="1005840" cy="2514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97880" y="1463040"/>
            <a:ext cx="3200400" cy="2514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194560" y="1463040"/>
            <a:ext cx="26974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 and retrieve information (vector DB)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4983480" y="1499616"/>
            <a:ext cx="822960" cy="178308"/>
          </a:xfrm>
          <a:prstGeom prst="roundRect">
            <a:avLst>
              <a:gd name="adj" fmla="val 25641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83480" y="1499616"/>
            <a:ext cx="82296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5943600" y="1463040"/>
            <a:ext cx="31089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ChromaDB with BAAI/bge-base-en-v1.5 embeddings, cosine similarity, 3395 chunks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137160" y="1714500"/>
            <a:ext cx="2011680" cy="2514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148840" y="1714500"/>
            <a:ext cx="2743200" cy="2514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892040" y="1714500"/>
            <a:ext cx="1005840" cy="2514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897880" y="1714500"/>
            <a:ext cx="3200400" cy="2514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194560" y="1714500"/>
            <a:ext cx="26974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 information (RAG pipeline)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4983480" y="1751076"/>
            <a:ext cx="822960" cy="178308"/>
          </a:xfrm>
          <a:prstGeom prst="roundRect">
            <a:avLst>
              <a:gd name="adj" fmla="val 25641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83480" y="1751076"/>
            <a:ext cx="82296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5943600" y="1714500"/>
            <a:ext cx="31089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RAG calls per pipeline run — opportunities, risks, trends — each with top-8 retrieval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137160" y="1965960"/>
            <a:ext cx="2011680" cy="2514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148840" y="1965960"/>
            <a:ext cx="2743200" cy="2514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892040" y="1965960"/>
            <a:ext cx="1005840" cy="2514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897880" y="1965960"/>
            <a:ext cx="3200400" cy="2514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194560" y="1965960"/>
            <a:ext cx="26974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recommendations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4983480" y="2002536"/>
            <a:ext cx="822960" cy="178308"/>
          </a:xfrm>
          <a:prstGeom prst="roundRect">
            <a:avLst>
              <a:gd name="adj" fmla="val 25641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983480" y="2002536"/>
            <a:ext cx="82296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5943600" y="1965960"/>
            <a:ext cx="31089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priority-sorted recommendations with evidence, impact, risk assessment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137160" y="2217420"/>
            <a:ext cx="2011680" cy="2514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148840" y="2217420"/>
            <a:ext cx="2743200" cy="2514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892040" y="2217420"/>
            <a:ext cx="1005840" cy="2514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897880" y="2217420"/>
            <a:ext cx="3200400" cy="2514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194560" y="2217420"/>
            <a:ext cx="26974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≥100 collected documents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4983480" y="2253996"/>
            <a:ext cx="822960" cy="178308"/>
          </a:xfrm>
          <a:prstGeom prst="roundRect">
            <a:avLst>
              <a:gd name="adj" fmla="val 25641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983480" y="2253996"/>
            <a:ext cx="82296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5943600" y="2217420"/>
            <a:ext cx="31089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244 documents from 39 sources — exceeds minimum</a:t>
            </a:r>
            <a:endParaRPr lang="en-US" sz="700" dirty="0"/>
          </a:p>
        </p:txBody>
      </p:sp>
      <p:sp>
        <p:nvSpPr>
          <p:cNvPr id="59" name="Shape 57"/>
          <p:cNvSpPr/>
          <p:nvPr/>
        </p:nvSpPr>
        <p:spPr>
          <a:xfrm>
            <a:off x="137160" y="2468880"/>
            <a:ext cx="2011680" cy="2514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2148840" y="2468880"/>
            <a:ext cx="2743200" cy="2514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892040" y="2468880"/>
            <a:ext cx="1005840" cy="2514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5897880" y="2468880"/>
            <a:ext cx="3200400" cy="2514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82880" y="2468880"/>
            <a:ext cx="19659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D2: Executive Dashboard (10%)</a:t>
            </a:r>
            <a:endParaRPr lang="en-US" sz="750" dirty="0"/>
          </a:p>
        </p:txBody>
      </p:sp>
      <p:sp>
        <p:nvSpPr>
          <p:cNvPr id="64" name="Text 62"/>
          <p:cNvSpPr/>
          <p:nvPr/>
        </p:nvSpPr>
        <p:spPr>
          <a:xfrm>
            <a:off x="2194560" y="2468880"/>
            <a:ext cx="26974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1: Company Overview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4983480" y="2505456"/>
            <a:ext cx="822960" cy="178308"/>
          </a:xfrm>
          <a:prstGeom prst="roundRect">
            <a:avLst>
              <a:gd name="adj" fmla="val 25641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983480" y="2505456"/>
            <a:ext cx="82296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</a:t>
            </a:r>
            <a:endParaRPr lang="en-US" sz="700" dirty="0"/>
          </a:p>
        </p:txBody>
      </p:sp>
      <p:sp>
        <p:nvSpPr>
          <p:cNvPr id="67" name="Text 65"/>
          <p:cNvSpPr/>
          <p:nvPr/>
        </p:nvSpPr>
        <p:spPr>
          <a:xfrm>
            <a:off x="5943600" y="2468880"/>
            <a:ext cx="31089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244 docs, 3395 chunks, 39 sources, chunk ratio explanation</a:t>
            </a:r>
            <a:endParaRPr lang="en-US" sz="700" dirty="0"/>
          </a:p>
        </p:txBody>
      </p:sp>
      <p:sp>
        <p:nvSpPr>
          <p:cNvPr id="68" name="Shape 66"/>
          <p:cNvSpPr/>
          <p:nvPr/>
        </p:nvSpPr>
        <p:spPr>
          <a:xfrm>
            <a:off x="137160" y="2720340"/>
            <a:ext cx="2011680" cy="2514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2148840" y="2720340"/>
            <a:ext cx="2743200" cy="2514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4892040" y="2720340"/>
            <a:ext cx="1005840" cy="2514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5897880" y="2720340"/>
            <a:ext cx="3200400" cy="2514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2194560" y="2720340"/>
            <a:ext cx="26974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2: Market Intelligence + semantic search</a:t>
            </a:r>
            <a:endParaRPr lang="en-US" sz="750" dirty="0"/>
          </a:p>
        </p:txBody>
      </p:sp>
      <p:sp>
        <p:nvSpPr>
          <p:cNvPr id="73" name="Shape 71"/>
          <p:cNvSpPr/>
          <p:nvPr/>
        </p:nvSpPr>
        <p:spPr>
          <a:xfrm>
            <a:off x="4983480" y="2756916"/>
            <a:ext cx="822960" cy="178308"/>
          </a:xfrm>
          <a:prstGeom prst="roundRect">
            <a:avLst>
              <a:gd name="adj" fmla="val 25641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983480" y="2756916"/>
            <a:ext cx="82296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</a:t>
            </a:r>
            <a:endParaRPr lang="en-US" sz="700" dirty="0"/>
          </a:p>
        </p:txBody>
      </p:sp>
      <p:sp>
        <p:nvSpPr>
          <p:cNvPr id="75" name="Text 73"/>
          <p:cNvSpPr/>
          <p:nvPr/>
        </p:nvSpPr>
        <p:spPr>
          <a:xfrm>
            <a:off x="5943600" y="2720340"/>
            <a:ext cx="31089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ChromaDB semantic search, sentiment filter, source filter, clickable article links</a:t>
            </a:r>
            <a:endParaRPr lang="en-US" sz="700" dirty="0"/>
          </a:p>
        </p:txBody>
      </p:sp>
      <p:sp>
        <p:nvSpPr>
          <p:cNvPr id="76" name="Shape 74"/>
          <p:cNvSpPr/>
          <p:nvPr/>
        </p:nvSpPr>
        <p:spPr>
          <a:xfrm>
            <a:off x="137160" y="2971800"/>
            <a:ext cx="2011680" cy="2514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2148840" y="2971800"/>
            <a:ext cx="2743200" cy="2514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4892040" y="2971800"/>
            <a:ext cx="1005840" cy="2514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5897880" y="2971800"/>
            <a:ext cx="3200400" cy="2514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2194560" y="2971800"/>
            <a:ext cx="26974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3: Opportunity Monitor</a:t>
            </a:r>
            <a:endParaRPr lang="en-US" sz="750" dirty="0"/>
          </a:p>
        </p:txBody>
      </p:sp>
      <p:sp>
        <p:nvSpPr>
          <p:cNvPr id="81" name="Shape 79"/>
          <p:cNvSpPr/>
          <p:nvPr/>
        </p:nvSpPr>
        <p:spPr>
          <a:xfrm>
            <a:off x="4983480" y="3008376"/>
            <a:ext cx="822960" cy="178308"/>
          </a:xfrm>
          <a:prstGeom prst="roundRect">
            <a:avLst>
              <a:gd name="adj" fmla="val 25641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4983480" y="3008376"/>
            <a:ext cx="82296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</a:t>
            </a:r>
            <a:endParaRPr lang="en-US" sz="700" dirty="0"/>
          </a:p>
        </p:txBody>
      </p:sp>
      <p:sp>
        <p:nvSpPr>
          <p:cNvPr id="83" name="Text 81"/>
          <p:cNvSpPr/>
          <p:nvPr/>
        </p:nvSpPr>
        <p:spPr>
          <a:xfrm>
            <a:off x="5943600" y="2971800"/>
            <a:ext cx="31089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items with impact level, confidence score, evidence with source links</a:t>
            </a:r>
            <a:endParaRPr lang="en-US" sz="700" dirty="0"/>
          </a:p>
        </p:txBody>
      </p:sp>
      <p:sp>
        <p:nvSpPr>
          <p:cNvPr id="84" name="Shape 82"/>
          <p:cNvSpPr/>
          <p:nvPr/>
        </p:nvSpPr>
        <p:spPr>
          <a:xfrm>
            <a:off x="137160" y="3223260"/>
            <a:ext cx="2011680" cy="2514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2148840" y="3223260"/>
            <a:ext cx="2743200" cy="2514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4892040" y="3223260"/>
            <a:ext cx="1005840" cy="2514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5897880" y="3223260"/>
            <a:ext cx="3200400" cy="2514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2194560" y="3223260"/>
            <a:ext cx="26974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4: Risk Monitor</a:t>
            </a:r>
            <a:endParaRPr lang="en-US" sz="750" dirty="0"/>
          </a:p>
        </p:txBody>
      </p:sp>
      <p:sp>
        <p:nvSpPr>
          <p:cNvPr id="89" name="Shape 87"/>
          <p:cNvSpPr/>
          <p:nvPr/>
        </p:nvSpPr>
        <p:spPr>
          <a:xfrm>
            <a:off x="4983480" y="3259836"/>
            <a:ext cx="822960" cy="178308"/>
          </a:xfrm>
          <a:prstGeom prst="roundRect">
            <a:avLst>
              <a:gd name="adj" fmla="val 25641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4983480" y="3259836"/>
            <a:ext cx="82296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</a:t>
            </a:r>
            <a:endParaRPr lang="en-US" sz="700" dirty="0"/>
          </a:p>
        </p:txBody>
      </p:sp>
      <p:sp>
        <p:nvSpPr>
          <p:cNvPr id="91" name="Text 89"/>
          <p:cNvSpPr/>
          <p:nvPr/>
        </p:nvSpPr>
        <p:spPr>
          <a:xfrm>
            <a:off x="5943600" y="3223260"/>
            <a:ext cx="31089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risks with severity, category, evidence links, summary dataframe</a:t>
            </a:r>
            <a:endParaRPr lang="en-US" sz="700" dirty="0"/>
          </a:p>
        </p:txBody>
      </p:sp>
      <p:sp>
        <p:nvSpPr>
          <p:cNvPr id="92" name="Shape 90"/>
          <p:cNvSpPr/>
          <p:nvPr/>
        </p:nvSpPr>
        <p:spPr>
          <a:xfrm>
            <a:off x="137160" y="3474720"/>
            <a:ext cx="2011680" cy="2514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2148840" y="3474720"/>
            <a:ext cx="2743200" cy="2514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4892040" y="3474720"/>
            <a:ext cx="1005840" cy="2514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5897880" y="3474720"/>
            <a:ext cx="3200400" cy="2514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2194560" y="3474720"/>
            <a:ext cx="26974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5: Sentiment Analysis (News/Public/Trends)</a:t>
            </a:r>
            <a:endParaRPr lang="en-US" sz="750" dirty="0"/>
          </a:p>
        </p:txBody>
      </p:sp>
      <p:sp>
        <p:nvSpPr>
          <p:cNvPr id="97" name="Shape 95"/>
          <p:cNvSpPr/>
          <p:nvPr/>
        </p:nvSpPr>
        <p:spPr>
          <a:xfrm>
            <a:off x="4983480" y="3511296"/>
            <a:ext cx="822960" cy="178308"/>
          </a:xfrm>
          <a:prstGeom prst="roundRect">
            <a:avLst>
              <a:gd name="adj" fmla="val 25641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4983480" y="3511296"/>
            <a:ext cx="82296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</a:t>
            </a:r>
            <a:endParaRPr lang="en-US" sz="700" dirty="0"/>
          </a:p>
        </p:txBody>
      </p:sp>
      <p:sp>
        <p:nvSpPr>
          <p:cNvPr id="99" name="Text 97"/>
          <p:cNvSpPr/>
          <p:nvPr/>
        </p:nvSpPr>
        <p:spPr>
          <a:xfrm>
            <a:off x="5943600" y="3474720"/>
            <a:ext cx="31089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5.1 FinBERT news, 5.2 RoBERTa social (Reddit+StockTwits+HN), 5.3 30-day trend chart</a:t>
            </a:r>
            <a:endParaRPr lang="en-US" sz="700" dirty="0"/>
          </a:p>
        </p:txBody>
      </p:sp>
      <p:sp>
        <p:nvSpPr>
          <p:cNvPr id="100" name="Shape 98"/>
          <p:cNvSpPr/>
          <p:nvPr/>
        </p:nvSpPr>
        <p:spPr>
          <a:xfrm>
            <a:off x="137160" y="3726180"/>
            <a:ext cx="2011680" cy="2514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2148840" y="3726180"/>
            <a:ext cx="2743200" cy="2514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4892040" y="3726180"/>
            <a:ext cx="1005840" cy="2514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5897880" y="3726180"/>
            <a:ext cx="3200400" cy="2514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2194560" y="3726180"/>
            <a:ext cx="26974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6: Strategic Recommendations</a:t>
            </a:r>
            <a:endParaRPr lang="en-US" sz="750" dirty="0"/>
          </a:p>
        </p:txBody>
      </p:sp>
      <p:sp>
        <p:nvSpPr>
          <p:cNvPr id="105" name="Shape 103"/>
          <p:cNvSpPr/>
          <p:nvPr/>
        </p:nvSpPr>
        <p:spPr>
          <a:xfrm>
            <a:off x="4983480" y="3762756"/>
            <a:ext cx="822960" cy="178308"/>
          </a:xfrm>
          <a:prstGeom prst="roundRect">
            <a:avLst>
              <a:gd name="adj" fmla="val 25641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4983480" y="3762756"/>
            <a:ext cx="82296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</a:t>
            </a:r>
            <a:endParaRPr lang="en-US" sz="700" dirty="0"/>
          </a:p>
        </p:txBody>
      </p:sp>
      <p:sp>
        <p:nvSpPr>
          <p:cNvPr id="107" name="Text 105"/>
          <p:cNvSpPr/>
          <p:nvPr/>
        </p:nvSpPr>
        <p:spPr>
          <a:xfrm>
            <a:off x="5943600" y="3726180"/>
            <a:ext cx="31089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Priority, rationale, evidence, expected impact, risk assessment per recommendation</a:t>
            </a:r>
            <a:endParaRPr lang="en-US" sz="700" dirty="0"/>
          </a:p>
        </p:txBody>
      </p:sp>
      <p:sp>
        <p:nvSpPr>
          <p:cNvPr id="108" name="Shape 106"/>
          <p:cNvSpPr/>
          <p:nvPr/>
        </p:nvSpPr>
        <p:spPr>
          <a:xfrm>
            <a:off x="137160" y="3977640"/>
            <a:ext cx="2011680" cy="2514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2148840" y="3977640"/>
            <a:ext cx="2743200" cy="2514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4892040" y="3977640"/>
            <a:ext cx="1005840" cy="2514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5897880" y="3977640"/>
            <a:ext cx="3200400" cy="2514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2194560" y="3977640"/>
            <a:ext cx="26974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7: CEO Briefing + Q&amp;A</a:t>
            </a:r>
            <a:endParaRPr lang="en-US" sz="750" dirty="0"/>
          </a:p>
        </p:txBody>
      </p:sp>
      <p:sp>
        <p:nvSpPr>
          <p:cNvPr id="113" name="Shape 111"/>
          <p:cNvSpPr/>
          <p:nvPr/>
        </p:nvSpPr>
        <p:spPr>
          <a:xfrm>
            <a:off x="4983480" y="4014216"/>
            <a:ext cx="822960" cy="178308"/>
          </a:xfrm>
          <a:prstGeom prst="roundRect">
            <a:avLst>
              <a:gd name="adj" fmla="val 25641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4983480" y="4014216"/>
            <a:ext cx="82296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</a:t>
            </a:r>
            <a:endParaRPr lang="en-US" sz="700" dirty="0"/>
          </a:p>
        </p:txBody>
      </p:sp>
      <p:sp>
        <p:nvSpPr>
          <p:cNvPr id="115" name="Text 113"/>
          <p:cNvSpPr/>
          <p:nvPr/>
        </p:nvSpPr>
        <p:spPr>
          <a:xfrm>
            <a:off x="5943600" y="3977640"/>
            <a:ext cx="31089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LLM-generated What/Why/Next + live RAG Q&amp;A with source citations</a:t>
            </a:r>
            <a:endParaRPr lang="en-US" sz="700" dirty="0"/>
          </a:p>
        </p:txBody>
      </p:sp>
      <p:sp>
        <p:nvSpPr>
          <p:cNvPr id="116" name="Shape 114"/>
          <p:cNvSpPr/>
          <p:nvPr/>
        </p:nvSpPr>
        <p:spPr>
          <a:xfrm>
            <a:off x="137160" y="4229100"/>
            <a:ext cx="2011680" cy="2514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2148840" y="4229100"/>
            <a:ext cx="2743200" cy="2514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4892040" y="4229100"/>
            <a:ext cx="1005840" cy="2514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5897880" y="4229100"/>
            <a:ext cx="3200400" cy="2514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182880" y="4229100"/>
            <a:ext cx="19659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D3: Architecture Docs (10%)</a:t>
            </a:r>
            <a:endParaRPr lang="en-US" sz="750" dirty="0"/>
          </a:p>
        </p:txBody>
      </p:sp>
      <p:sp>
        <p:nvSpPr>
          <p:cNvPr id="121" name="Text 119"/>
          <p:cNvSpPr/>
          <p:nvPr/>
        </p:nvSpPr>
        <p:spPr>
          <a:xfrm>
            <a:off x="2194560" y="4229100"/>
            <a:ext cx="26974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README with architecture diagram</a:t>
            </a:r>
            <a:endParaRPr lang="en-US" sz="750" dirty="0"/>
          </a:p>
        </p:txBody>
      </p:sp>
      <p:sp>
        <p:nvSpPr>
          <p:cNvPr id="122" name="Shape 120"/>
          <p:cNvSpPr/>
          <p:nvPr/>
        </p:nvSpPr>
        <p:spPr>
          <a:xfrm>
            <a:off x="4983480" y="4265676"/>
            <a:ext cx="822960" cy="178308"/>
          </a:xfrm>
          <a:prstGeom prst="roundRect">
            <a:avLst>
              <a:gd name="adj" fmla="val 25641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4983480" y="4265676"/>
            <a:ext cx="82296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</a:t>
            </a:r>
            <a:endParaRPr lang="en-US" sz="700" dirty="0"/>
          </a:p>
        </p:txBody>
      </p:sp>
      <p:sp>
        <p:nvSpPr>
          <p:cNvPr id="124" name="Text 122"/>
          <p:cNvSpPr/>
          <p:nvPr/>
        </p:nvSpPr>
        <p:spPr>
          <a:xfrm>
            <a:off x="5943600" y="4229100"/>
            <a:ext cx="31089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master_architecture_overview.png embedded in README.md</a:t>
            </a:r>
            <a:endParaRPr lang="en-US" sz="700" dirty="0"/>
          </a:p>
        </p:txBody>
      </p:sp>
      <p:sp>
        <p:nvSpPr>
          <p:cNvPr id="125" name="Shape 123"/>
          <p:cNvSpPr/>
          <p:nvPr/>
        </p:nvSpPr>
        <p:spPr>
          <a:xfrm>
            <a:off x="137160" y="4480560"/>
            <a:ext cx="2011680" cy="2514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2148840" y="4480560"/>
            <a:ext cx="2743200" cy="2514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4892040" y="4480560"/>
            <a:ext cx="1005840" cy="2514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5897880" y="4480560"/>
            <a:ext cx="3200400" cy="2514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2194560" y="4480560"/>
            <a:ext cx="26974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flow diagram</a:t>
            </a:r>
            <a:endParaRPr lang="en-US" sz="750" dirty="0"/>
          </a:p>
        </p:txBody>
      </p:sp>
      <p:sp>
        <p:nvSpPr>
          <p:cNvPr id="130" name="Shape 128"/>
          <p:cNvSpPr/>
          <p:nvPr/>
        </p:nvSpPr>
        <p:spPr>
          <a:xfrm>
            <a:off x="4983480" y="4517136"/>
            <a:ext cx="822960" cy="178308"/>
          </a:xfrm>
          <a:prstGeom prst="roundRect">
            <a:avLst>
              <a:gd name="adj" fmla="val 25641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4983480" y="4517136"/>
            <a:ext cx="82296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</a:t>
            </a:r>
            <a:endParaRPr lang="en-US" sz="700" dirty="0"/>
          </a:p>
        </p:txBody>
      </p:sp>
      <p:sp>
        <p:nvSpPr>
          <p:cNvPr id="132" name="Text 130"/>
          <p:cNvSpPr/>
          <p:nvPr/>
        </p:nvSpPr>
        <p:spPr>
          <a:xfrm>
            <a:off x="5943600" y="4480560"/>
            <a:ext cx="31089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ASCII flow diagram in README.md showing all 5 layers</a:t>
            </a:r>
            <a:endParaRPr lang="en-US" sz="700" dirty="0"/>
          </a:p>
        </p:txBody>
      </p:sp>
      <p:sp>
        <p:nvSpPr>
          <p:cNvPr id="133" name="Shape 131"/>
          <p:cNvSpPr/>
          <p:nvPr/>
        </p:nvSpPr>
        <p:spPr>
          <a:xfrm>
            <a:off x="137160" y="4732020"/>
            <a:ext cx="2011680" cy="2514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2148840" y="4732020"/>
            <a:ext cx="2743200" cy="2514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4892040" y="4732020"/>
            <a:ext cx="1005840" cy="2514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5897880" y="4732020"/>
            <a:ext cx="3200400" cy="2514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7" name="Text 135"/>
          <p:cNvSpPr/>
          <p:nvPr/>
        </p:nvSpPr>
        <p:spPr>
          <a:xfrm>
            <a:off x="2194560" y="4732020"/>
            <a:ext cx="26974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stack documentation</a:t>
            </a:r>
            <a:endParaRPr lang="en-US" sz="750" dirty="0"/>
          </a:p>
        </p:txBody>
      </p:sp>
      <p:sp>
        <p:nvSpPr>
          <p:cNvPr id="138" name="Shape 136"/>
          <p:cNvSpPr/>
          <p:nvPr/>
        </p:nvSpPr>
        <p:spPr>
          <a:xfrm>
            <a:off x="4983480" y="4768596"/>
            <a:ext cx="822960" cy="178308"/>
          </a:xfrm>
          <a:prstGeom prst="roundRect">
            <a:avLst>
              <a:gd name="adj" fmla="val 25641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39" name="Text 137"/>
          <p:cNvSpPr/>
          <p:nvPr/>
        </p:nvSpPr>
        <p:spPr>
          <a:xfrm>
            <a:off x="4983480" y="4768596"/>
            <a:ext cx="82296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</a:t>
            </a:r>
            <a:endParaRPr lang="en-US" sz="700" dirty="0"/>
          </a:p>
        </p:txBody>
      </p:sp>
      <p:sp>
        <p:nvSpPr>
          <p:cNvPr id="140" name="Text 138"/>
          <p:cNvSpPr/>
          <p:nvPr/>
        </p:nvSpPr>
        <p:spPr>
          <a:xfrm>
            <a:off x="5943600" y="4732020"/>
            <a:ext cx="31089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 in README with each layer, technology, and justification</a:t>
            </a:r>
            <a:endParaRPr lang="en-US" sz="700" dirty="0"/>
          </a:p>
        </p:txBody>
      </p:sp>
      <p:sp>
        <p:nvSpPr>
          <p:cNvPr id="141" name="Shape 139"/>
          <p:cNvSpPr/>
          <p:nvPr/>
        </p:nvSpPr>
        <p:spPr>
          <a:xfrm>
            <a:off x="137160" y="4983480"/>
            <a:ext cx="2011680" cy="2514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2148840" y="4983480"/>
            <a:ext cx="2743200" cy="2514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4892040" y="4983480"/>
            <a:ext cx="1005840" cy="2514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5897880" y="4983480"/>
            <a:ext cx="3200400" cy="2514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5" name="Text 143"/>
          <p:cNvSpPr/>
          <p:nvPr/>
        </p:nvSpPr>
        <p:spPr>
          <a:xfrm>
            <a:off x="2194560" y="4983480"/>
            <a:ext cx="26974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decisions</a:t>
            </a:r>
            <a:endParaRPr lang="en-US" sz="750" dirty="0"/>
          </a:p>
        </p:txBody>
      </p:sp>
      <p:sp>
        <p:nvSpPr>
          <p:cNvPr id="146" name="Shape 144"/>
          <p:cNvSpPr/>
          <p:nvPr/>
        </p:nvSpPr>
        <p:spPr>
          <a:xfrm>
            <a:off x="4983480" y="5020056"/>
            <a:ext cx="822960" cy="178308"/>
          </a:xfrm>
          <a:prstGeom prst="roundRect">
            <a:avLst>
              <a:gd name="adj" fmla="val 25641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7" name="Text 145"/>
          <p:cNvSpPr/>
          <p:nvPr/>
        </p:nvSpPr>
        <p:spPr>
          <a:xfrm>
            <a:off x="4983480" y="5020056"/>
            <a:ext cx="82296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</a:t>
            </a:r>
            <a:endParaRPr lang="en-US" sz="700" dirty="0"/>
          </a:p>
        </p:txBody>
      </p:sp>
      <p:sp>
        <p:nvSpPr>
          <p:cNvPr id="148" name="Text 146"/>
          <p:cNvSpPr/>
          <p:nvPr/>
        </p:nvSpPr>
        <p:spPr>
          <a:xfrm>
            <a:off x="5943600" y="4983480"/>
            <a:ext cx="31089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Documented in README: why RAG, why dual sentiment, why chunking strategy</a:t>
            </a:r>
            <a:endParaRPr lang="en-US" sz="700" dirty="0"/>
          </a:p>
        </p:txBody>
      </p:sp>
      <p:sp>
        <p:nvSpPr>
          <p:cNvPr id="149" name="Shape 147"/>
          <p:cNvSpPr/>
          <p:nvPr/>
        </p:nvSpPr>
        <p:spPr>
          <a:xfrm>
            <a:off x="137160" y="5234940"/>
            <a:ext cx="2011680" cy="2514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2148840" y="5234940"/>
            <a:ext cx="2743200" cy="2514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4892040" y="5234940"/>
            <a:ext cx="1005840" cy="2514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5897880" y="5234940"/>
            <a:ext cx="3200400" cy="2514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3" name="Text 151"/>
          <p:cNvSpPr/>
          <p:nvPr/>
        </p:nvSpPr>
        <p:spPr>
          <a:xfrm>
            <a:off x="2194560" y="5234940"/>
            <a:ext cx="26974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pipeline documentation</a:t>
            </a:r>
            <a:endParaRPr lang="en-US" sz="750" dirty="0"/>
          </a:p>
        </p:txBody>
      </p:sp>
      <p:sp>
        <p:nvSpPr>
          <p:cNvPr id="154" name="Shape 152"/>
          <p:cNvSpPr/>
          <p:nvPr/>
        </p:nvSpPr>
        <p:spPr>
          <a:xfrm>
            <a:off x="4983480" y="5271516"/>
            <a:ext cx="822960" cy="178308"/>
          </a:xfrm>
          <a:prstGeom prst="roundRect">
            <a:avLst>
              <a:gd name="adj" fmla="val 25641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5" name="Text 153"/>
          <p:cNvSpPr/>
          <p:nvPr/>
        </p:nvSpPr>
        <p:spPr>
          <a:xfrm>
            <a:off x="4983480" y="5271516"/>
            <a:ext cx="82296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</a:t>
            </a:r>
            <a:endParaRPr lang="en-US" sz="700" dirty="0"/>
          </a:p>
        </p:txBody>
      </p:sp>
      <p:sp>
        <p:nvSpPr>
          <p:cNvPr id="156" name="Text 154"/>
          <p:cNvSpPr/>
          <p:nvPr/>
        </p:nvSpPr>
        <p:spPr>
          <a:xfrm>
            <a:off x="5943600" y="5234940"/>
            <a:ext cx="31089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Step-by-step RAG flow in README with embedding → retrieval → generation → parse</a:t>
            </a:r>
            <a:endParaRPr lang="en-US" sz="700" dirty="0"/>
          </a:p>
        </p:txBody>
      </p:sp>
      <p:sp>
        <p:nvSpPr>
          <p:cNvPr id="157" name="Shape 155"/>
          <p:cNvSpPr/>
          <p:nvPr/>
        </p:nvSpPr>
        <p:spPr>
          <a:xfrm>
            <a:off x="137160" y="5486400"/>
            <a:ext cx="8869680" cy="2926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58" name="Text 156"/>
          <p:cNvSpPr/>
          <p:nvPr/>
        </p:nvSpPr>
        <p:spPr>
          <a:xfrm>
            <a:off x="137160" y="5486400"/>
            <a:ext cx="8869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Summary: 17/17 DONE (100%)   ·   0 PARTIAL   ·   0 NOT DONE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Stack &amp; Key Concepts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685800"/>
            <a:ext cx="4206240" cy="868680"/>
          </a:xfrm>
          <a:prstGeom prst="roundRect">
            <a:avLst>
              <a:gd name="adj" fmla="val 10526"/>
            </a:avLst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758952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97840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Ollama llama3.1:8b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252728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Local, open-source, 8192 ctx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691640"/>
            <a:ext cx="4206240" cy="868680"/>
          </a:xfrm>
          <a:prstGeom prst="roundRect">
            <a:avLst>
              <a:gd name="adj" fmla="val 10526"/>
            </a:avLst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764792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11480" y="198424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BAAI/bge-base-en-v1.5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11480" y="2258568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768-dim, MTEB 63.6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4320" y="2697480"/>
            <a:ext cx="4206240" cy="868680"/>
          </a:xfrm>
          <a:prstGeom prst="roundRect">
            <a:avLst>
              <a:gd name="adj" fmla="val 10526"/>
            </a:avLst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770632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DB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11480" y="299008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ChromaDB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11480" y="3264408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Cosine similarity, persistent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74320" y="3703320"/>
            <a:ext cx="4206240" cy="868680"/>
          </a:xfrm>
          <a:prstGeom prst="roundRect">
            <a:avLst>
              <a:gd name="adj" fmla="val 10526"/>
            </a:avLst>
          </a:prstGeom>
          <a:solidFill>
            <a:srgbClr val="1E293B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3776472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Sentiment 1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11480" y="399592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ProsusAI/FinBERT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11480" y="4270248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domain (Reuters)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846320" y="685800"/>
            <a:ext cx="4206240" cy="868680"/>
          </a:xfrm>
          <a:prstGeom prst="roundRect">
            <a:avLst>
              <a:gd name="adj" fmla="val 10526"/>
            </a:avLst>
          </a:prstGeom>
          <a:solidFill>
            <a:srgbClr val="1E293B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83480" y="758952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Sentiment 2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983480" y="97840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Cardiff Twitter-RoBERTa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983480" y="1252728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domain (124M tweets)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846320" y="1691640"/>
            <a:ext cx="4206240" cy="868680"/>
          </a:xfrm>
          <a:prstGeom prst="roundRect">
            <a:avLst>
              <a:gd name="adj" fmla="val 10526"/>
            </a:avLst>
          </a:prstGeom>
          <a:solidFill>
            <a:srgbClr val="1E293B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83480" y="1764792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Sentiment 3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983480" y="198424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VADER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983480" y="2258568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Rule-based fallback, offline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846320" y="2697480"/>
            <a:ext cx="4206240" cy="868680"/>
          </a:xfrm>
          <a:prstGeom prst="roundRect">
            <a:avLst>
              <a:gd name="adj" fmla="val 10526"/>
            </a:avLst>
          </a:prstGeom>
          <a:solidFill>
            <a:srgbClr val="1E293B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83480" y="2770632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983480" y="299008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Streamlit + Plotly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983480" y="3264408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sections, interactive charts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846320" y="3703320"/>
            <a:ext cx="4206240" cy="868680"/>
          </a:xfrm>
          <a:prstGeom prst="roundRect">
            <a:avLst>
              <a:gd name="adj" fmla="val 10526"/>
            </a:avLst>
          </a:prstGeom>
          <a:solidFill>
            <a:srgbClr val="1E293B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83480" y="3776472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983480" y="399592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3.11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983480" y="4270248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collectors, RAG, JSON LLM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models are open-source and run locally — no commercial API required (compliant with exam requirements)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NVIDIA AI CEO Agent — Project Progress</dc:title>
  <dc:subject>PptxGenJS Presentation</dc:subject>
  <dc:creator>Anish</dc:creator>
  <cp:lastModifiedBy>Anish</cp:lastModifiedBy>
  <cp:revision>1</cp:revision>
  <dcterms:created xsi:type="dcterms:W3CDTF">2026-06-23T07:58:14Z</dcterms:created>
  <dcterms:modified xsi:type="dcterms:W3CDTF">2026-06-23T07:58:14Z</dcterms:modified>
</cp:coreProperties>
</file>